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448" y="411480"/>
            <a:ext cx="2338578" cy="1417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103120"/>
            <a:ext cx="11274552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400" b="1">
                <a:solidFill>
                  <a:srgbClr val="222222"/>
                </a:solidFill>
                <a:latin typeface="Times New Roman"/>
              </a:rPr>
              <a:t>DelayLens: Agentic Big Data Analytics</a:t>
            </a:r>
          </a:p>
          <a:p>
            <a:pPr algn="ctr"/>
            <a:r>
              <a:rPr sz="3400" b="1">
                <a:solidFill>
                  <a:srgbClr val="222222"/>
                </a:solidFill>
                <a:latin typeface="Times New Roman"/>
              </a:rPr>
              <a:t>for Delivery-Delay Intelligence using</a:t>
            </a:r>
          </a:p>
          <a:p>
            <a:pPr algn="ctr"/>
            <a:r>
              <a:rPr sz="3400" b="1">
                <a:solidFill>
                  <a:srgbClr val="222222"/>
                </a:solidFill>
                <a:latin typeface="Times New Roman"/>
              </a:rPr>
              <a:t>Hadoop MapReduce, MongoDB and LangGraph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60520"/>
            <a:ext cx="112745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 i="1">
                <a:solidFill>
                  <a:srgbClr val="222222"/>
                </a:solidFill>
                <a:latin typeface="Times New Roman"/>
              </a:rPr>
              <a:t>Continuous Assessment 3 (Big Data Case Study Analysis)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112745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 i="1">
                <a:solidFill>
                  <a:srgbClr val="222222"/>
                </a:solidFill>
                <a:latin typeface="Times New Roman"/>
              </a:rPr>
              <a:t>Subject: Big Data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16636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Arial"/>
              </a:rPr>
              <a:t>Submitted By: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486400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Arial"/>
              </a:rPr>
              <a:t>Arav Saxena</a:t>
            </a:r>
          </a:p>
          <a:p>
            <a:pPr algn="l"/>
            <a:r>
              <a:rPr sz="1500" b="0">
                <a:solidFill>
                  <a:srgbClr val="222222"/>
                </a:solidFill>
                <a:latin typeface="Arial"/>
              </a:rPr>
              <a:t>PRN: 23070126018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5486400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Arial"/>
              </a:rPr>
              <a:t>Mahi Laddha</a:t>
            </a:r>
          </a:p>
          <a:p>
            <a:pPr algn="l"/>
            <a:r>
              <a:rPr sz="1500" b="0">
                <a:solidFill>
                  <a:srgbClr val="222222"/>
                </a:solidFill>
                <a:latin typeface="Arial"/>
              </a:rPr>
              <a:t>PRN: 230701260169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263640"/>
            <a:ext cx="1127455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 i="1">
                <a:solidFill>
                  <a:srgbClr val="222222"/>
                </a:solidFill>
                <a:latin typeface="Times New Roman"/>
              </a:rPr>
              <a:t>Artificial Intelligence and Machine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" y="0"/>
            <a:ext cx="73152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E7C86"/>
                </a:solidFill>
                <a:latin typeface="Calibri"/>
              </a:rPr>
              <a:t>PROBLEM &amp;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0B1F3A"/>
                </a:solidFill>
                <a:latin typeface="Calibri"/>
              </a:rPr>
              <a:t>54.8% of DataCo orders arrive 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640080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>
                <a:solidFill>
                  <a:srgbClr val="5B6677"/>
                </a:solidFill>
                <a:latin typeface="Calibri"/>
              </a:rPr>
              <a:t>DelayLens  |  2 /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393192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D9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109728" cy="128016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3566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E8590C"/>
                </a:solidFill>
                <a:latin typeface="Calibri"/>
              </a:rPr>
              <a:t>65,752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633472"/>
            <a:ext cx="3566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5B6677"/>
                </a:solidFill>
                <a:latin typeface="Calibri"/>
              </a:rPr>
              <a:t>orders analysed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291840"/>
            <a:ext cx="393192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D9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291840"/>
            <a:ext cx="109728" cy="128016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401568"/>
            <a:ext cx="3566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E8590C"/>
                </a:solidFill>
                <a:latin typeface="Calibri"/>
              </a:rPr>
              <a:t>180,519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096512"/>
            <a:ext cx="3566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5B6677"/>
                </a:solidFill>
                <a:latin typeface="Calibri"/>
              </a:rPr>
              <a:t>order lines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754880"/>
            <a:ext cx="393192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D9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754880"/>
            <a:ext cx="109728" cy="128016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864608"/>
            <a:ext cx="3566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E8590C"/>
                </a:solidFill>
                <a:latin typeface="Calibri"/>
              </a:rPr>
              <a:t>3 years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559552"/>
            <a:ext cx="3566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5B6677"/>
                </a:solidFill>
                <a:latin typeface="Calibri"/>
              </a:rPr>
              <a:t>Jan 2015 to Jan 2018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2103120"/>
            <a:ext cx="64008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84048" indent="-384048">
              <a:spcAft>
                <a:spcPts val="1800"/>
              </a:spcAft>
              <a:buClr>
                <a:srgbClr val="0E7C86"/>
              </a:buClr>
              <a:buFont typeface="Wingdings"/>
              <a:buChar char="§"/>
            </a:pPr>
            <a:r>
              <a:rPr sz="2800">
                <a:solidFill>
                  <a:srgbClr val="16202E"/>
                </a:solidFill>
                <a:latin typeface="Calibri"/>
              </a:rPr>
              <a:t>Find where and why orders are late</a:t>
            </a:r>
          </a:p>
          <a:p>
            <a:pPr marL="384048" indent="-384048">
              <a:spcAft>
                <a:spcPts val="1800"/>
              </a:spcAft>
              <a:buClr>
                <a:srgbClr val="0E7C86"/>
              </a:buClr>
              <a:buFont typeface="Wingdings"/>
              <a:buChar char="§"/>
            </a:pPr>
            <a:r>
              <a:rPr sz="2800">
                <a:solidFill>
                  <a:srgbClr val="16202E"/>
                </a:solidFill>
                <a:latin typeface="Calibri"/>
              </a:rPr>
              <a:t>Test which promise changes would fix it</a:t>
            </a:r>
          </a:p>
          <a:p>
            <a:pPr marL="384048" indent="-384048">
              <a:spcAft>
                <a:spcPts val="1800"/>
              </a:spcAft>
              <a:buClr>
                <a:srgbClr val="0E7C86"/>
              </a:buClr>
              <a:buFont typeface="Wingdings"/>
              <a:buChar char="§"/>
            </a:pPr>
            <a:r>
              <a:rPr sz="2800">
                <a:solidFill>
                  <a:srgbClr val="16202E"/>
                </a:solidFill>
                <a:latin typeface="Calibri"/>
              </a:rPr>
              <a:t>Give staff an AI copilot for instant answers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" y="0"/>
            <a:ext cx="73152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E7C86"/>
                </a:solidFill>
                <a:latin typeface="Calibri"/>
              </a:rPr>
              <a:t>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0B1F3A"/>
                </a:solidFill>
                <a:latin typeface="Calibri"/>
              </a:rPr>
              <a:t>DataCo Smart Supply Chain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640080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>
                <a:solidFill>
                  <a:srgbClr val="5B6677"/>
                </a:solidFill>
                <a:latin typeface="Calibri"/>
              </a:rPr>
              <a:t>DelayLens  |  3 /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79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D9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212079" cy="82296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2011680"/>
            <a:ext cx="475487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0B1F3A"/>
                </a:solidFill>
                <a:latin typeface="Calibri"/>
              </a:rPr>
              <a:t>180,519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2651760"/>
            <a:ext cx="475487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5B6677"/>
                </a:solidFill>
                <a:latin typeface="Calibri"/>
              </a:rPr>
              <a:t>order lines, 53 fields (34 kept)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39" y="1783080"/>
            <a:ext cx="5212079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D9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39" y="1783080"/>
            <a:ext cx="5212079" cy="82296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1" y="2011680"/>
            <a:ext cx="475487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0B1F3A"/>
                </a:solidFill>
                <a:latin typeface="Calibri"/>
              </a:rPr>
              <a:t>469,977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671" y="2651760"/>
            <a:ext cx="475487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5B6677"/>
                </a:solidFill>
                <a:latin typeface="Calibri"/>
              </a:rPr>
              <a:t>web access-log lines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3502152"/>
            <a:ext cx="5212079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D9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3502152"/>
            <a:ext cx="5212079" cy="82296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1" y="3730752"/>
            <a:ext cx="475487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0B1F3A"/>
                </a:solidFill>
                <a:latin typeface="Calibri"/>
              </a:rPr>
              <a:t>Mendeley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1" y="4370832"/>
            <a:ext cx="475487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5B6677"/>
                </a:solidFill>
                <a:latin typeface="Calibri"/>
              </a:rPr>
              <a:t>public source, three files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39" y="3502152"/>
            <a:ext cx="5212079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D9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39" y="3502152"/>
            <a:ext cx="5212079" cy="82296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9671" y="3730752"/>
            <a:ext cx="475487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0B1F3A"/>
                </a:solidFill>
                <a:latin typeface="Calibri"/>
              </a:rPr>
              <a:t>3,249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9671" y="4370832"/>
            <a:ext cx="475487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5B6677"/>
                </a:solidFill>
                <a:latin typeface="Calibri"/>
              </a:rPr>
              <a:t>duplicate log lines removed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312664"/>
            <a:ext cx="106984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84048" indent="-384048">
              <a:spcAft>
                <a:spcPts val="1000"/>
              </a:spcAft>
              <a:buClr>
                <a:srgbClr val="0E7C86"/>
              </a:buClr>
              <a:buFont typeface="Wingdings"/>
              <a:buChar char="§"/>
            </a:pPr>
            <a:r>
              <a:rPr sz="2400">
                <a:solidFill>
                  <a:srgbClr val="16202E"/>
                </a:solidFill>
                <a:latin typeface="Calibri"/>
              </a:rPr>
              <a:t>Spanish country and state names translated</a:t>
            </a:r>
          </a:p>
          <a:p>
            <a:pPr marL="384048" indent="-384048">
              <a:spcAft>
                <a:spcPts val="1000"/>
              </a:spcAft>
              <a:buClr>
                <a:srgbClr val="0E7C86"/>
              </a:buClr>
              <a:buFont typeface="Wingdings"/>
              <a:buChar char="§"/>
            </a:pPr>
            <a:r>
              <a:rPr sz="2400">
                <a:solidFill>
                  <a:srgbClr val="16202E"/>
                </a:solidFill>
                <a:latin typeface="Calibri"/>
              </a:rPr>
              <a:t>Late = actual days above promised days (100% match)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" y="0"/>
            <a:ext cx="73152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E7C86"/>
                </a:solidFill>
                <a:latin typeface="Calibri"/>
              </a:rPr>
              <a:t>ARCHITECTURE AND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0B1F3A"/>
                </a:solidFill>
                <a:latin typeface="Calibri"/>
              </a:rPr>
              <a:t>Six tools, one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640080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>
                <a:solidFill>
                  <a:srgbClr val="5B6677"/>
                </a:solidFill>
                <a:latin typeface="Calibri"/>
              </a:rPr>
              <a:t>DelayLens  |  4 /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011680"/>
            <a:ext cx="1630680" cy="2468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9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011680"/>
            <a:ext cx="1630680" cy="82296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5692" y="2240280"/>
            <a:ext cx="493776" cy="493776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5692" y="2240280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26080"/>
            <a:ext cx="15392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Clean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520440"/>
            <a:ext cx="1447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5B6677"/>
                </a:solidFill>
                <a:latin typeface="Calibri"/>
              </a:rPr>
              <a:t>pandas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89632" y="3108960"/>
            <a:ext cx="2194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0E7C86"/>
                </a:solidFill>
                <a:latin typeface="Calibri"/>
              </a:rPr>
              <a:t>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90799" y="2011680"/>
            <a:ext cx="1630680" cy="2468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9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90799" y="2011680"/>
            <a:ext cx="1630680" cy="82296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159251" y="2240280"/>
            <a:ext cx="493776" cy="493776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59251" y="2240280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36519" y="2926080"/>
            <a:ext cx="15392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Store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82240" y="3520440"/>
            <a:ext cx="1447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5B6677"/>
                </a:solidFill>
                <a:latin typeface="Calibri"/>
              </a:rPr>
              <a:t>HDFS 3.5.0, 16 MB blocks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3192" y="3108960"/>
            <a:ext cx="2194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0E7C86"/>
                </a:solidFill>
                <a:latin typeface="Calibri"/>
              </a:rPr>
              <a:t>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04360" y="2011680"/>
            <a:ext cx="1630680" cy="2468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9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04360" y="2011680"/>
            <a:ext cx="1630680" cy="82296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972811" y="2240280"/>
            <a:ext cx="493776" cy="493776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72811" y="2240280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50080" y="2926080"/>
            <a:ext cx="15392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Process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95799" y="3520440"/>
            <a:ext cx="1447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5B6677"/>
                </a:solidFill>
                <a:latin typeface="Calibri"/>
              </a:rPr>
              <a:t>MapReduce on YARN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16752" y="3108960"/>
            <a:ext cx="2194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0E7C86"/>
                </a:solidFill>
                <a:latin typeface="Calibri"/>
              </a:rPr>
              <a:t>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19" y="2011680"/>
            <a:ext cx="1630680" cy="2468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9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19" y="2011680"/>
            <a:ext cx="1630680" cy="82296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786371" y="2240280"/>
            <a:ext cx="493776" cy="493776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86371" y="2240280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39" y="2926080"/>
            <a:ext cx="15392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Serve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59" y="3520440"/>
            <a:ext cx="1447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5B6677"/>
                </a:solidFill>
                <a:latin typeface="Calibri"/>
              </a:rPr>
              <a:t>MongoDB 7, FastAPI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30311" y="3108960"/>
            <a:ext cx="2194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0E7C86"/>
                </a:solidFill>
                <a:latin typeface="Calibri"/>
              </a:rPr>
              <a:t>›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31480" y="2011680"/>
            <a:ext cx="1630680" cy="2468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9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31480" y="2011680"/>
            <a:ext cx="1630680" cy="82296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599932" y="2240280"/>
            <a:ext cx="493776" cy="493776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99932" y="2240280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77200" y="2926080"/>
            <a:ext cx="15392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Ask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22920" y="3520440"/>
            <a:ext cx="1447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5B6677"/>
                </a:solidFill>
                <a:latin typeface="Calibri"/>
              </a:rPr>
              <a:t>LangGraph agent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43872" y="3108960"/>
            <a:ext cx="2194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0E7C86"/>
                </a:solidFill>
                <a:latin typeface="Calibri"/>
              </a:rPr>
              <a:t>›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845040" y="2011680"/>
            <a:ext cx="1630680" cy="2468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9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845040" y="2011680"/>
            <a:ext cx="1630680" cy="82296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413491" y="2240280"/>
            <a:ext cx="493776" cy="493776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413491" y="2240280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90760" y="2926080"/>
            <a:ext cx="15392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See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36479" y="3520440"/>
            <a:ext cx="1447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5B6677"/>
                </a:solidFill>
                <a:latin typeface="Calibri"/>
              </a:rPr>
              <a:t>Next.js 16 dashboard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77240" y="5120640"/>
            <a:ext cx="10698480" cy="914400"/>
          </a:xfrm>
          <a:prstGeom prst="rect">
            <a:avLst/>
          </a:prstGeom>
          <a:solidFill>
            <a:srgbClr val="E8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77240" y="5120640"/>
            <a:ext cx="109728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43000" y="5120640"/>
            <a:ext cx="102412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>
                <a:solidFill>
                  <a:srgbClr val="0B1F3A"/>
                </a:solidFill>
                <a:latin typeface="Calibri"/>
              </a:rPr>
              <a:t>The copilot can send a new MapReduce job back to the cluster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" y="0"/>
            <a:ext cx="73152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E7C86"/>
                </a:solidFill>
                <a:latin typeface="Calibri"/>
              </a:rPr>
              <a:t>HADOOP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0B1F3A"/>
                </a:solidFill>
                <a:latin typeface="Calibri"/>
              </a:rPr>
              <a:t>33 MapReduce jobs, one algorithm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640080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>
                <a:solidFill>
                  <a:srgbClr val="5B6677"/>
                </a:solidFill>
                <a:latin typeface="Calibri"/>
              </a:rPr>
              <a:t>DelayLens  |  5 /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468879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D9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2468879" cy="8229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103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E8590C"/>
                </a:solidFill>
                <a:latin typeface="Calibri"/>
              </a:rPr>
              <a:t>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834640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B6677"/>
                </a:solidFill>
                <a:latin typeface="Calibri"/>
              </a:rPr>
              <a:t>jobs on YARN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0439" y="1783080"/>
            <a:ext cx="2468879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D9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20439" y="1783080"/>
            <a:ext cx="2468879" cy="8229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39" y="2011680"/>
            <a:ext cx="2103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E8590C"/>
                </a:solidFill>
                <a:latin typeface="Calibri"/>
              </a:rPr>
              <a:t>65,752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2834640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B6677"/>
                </a:solidFill>
                <a:latin typeface="Calibri"/>
              </a:rPr>
              <a:t>orders rolled up from 180,519 lines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39" y="1783080"/>
            <a:ext cx="2468879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D9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39" y="1783080"/>
            <a:ext cx="2468879" cy="8229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39" y="2011680"/>
            <a:ext cx="2103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E8590C"/>
                </a:solidFill>
                <a:latin typeface="Calibri"/>
              </a:rPr>
              <a:t>2,600x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39" y="2834640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B6677"/>
                </a:solidFill>
                <a:latin typeface="Calibri"/>
              </a:rPr>
              <a:t>smaller shuffle with a combiner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06839" y="1783080"/>
            <a:ext cx="2468879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D9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06839" y="1783080"/>
            <a:ext cx="2468879" cy="8229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39" y="2011680"/>
            <a:ext cx="2103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E8590C"/>
                </a:solidFill>
                <a:latin typeface="Calibri"/>
              </a:rPr>
              <a:t>6.2x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39" y="2834640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B6677"/>
                </a:solidFill>
                <a:latin typeface="Calibri"/>
              </a:rPr>
              <a:t>run time for 64x more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977639"/>
            <a:ext cx="52120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84048" indent="-384048">
              <a:spcAft>
                <a:spcPts val="1200"/>
              </a:spcAft>
              <a:buClr>
                <a:srgbClr val="0E7C86"/>
              </a:buClr>
              <a:buFont typeface="Wingdings"/>
              <a:buChar char="§"/>
            </a:pPr>
            <a:r>
              <a:rPr sz="2200">
                <a:solidFill>
                  <a:srgbClr val="16202E"/>
                </a:solidFill>
                <a:latin typeface="Calibri"/>
              </a:rPr>
              <a:t>Job A turns order lines into one record per order</a:t>
            </a:r>
          </a:p>
          <a:p>
            <a:pPr marL="384048" indent="-384048">
              <a:spcAft>
                <a:spcPts val="1200"/>
              </a:spcAft>
              <a:buClr>
                <a:srgbClr val="0E7C86"/>
              </a:buClr>
              <a:buFont typeface="Wingdings"/>
              <a:buChar char="§"/>
            </a:pPr>
            <a:r>
              <a:rPr sz="2200">
                <a:solidFill>
                  <a:srgbClr val="16202E"/>
                </a:solidFill>
                <a:latin typeface="Calibri"/>
              </a:rPr>
              <a:t>25 jobs reuse one map, combine, reduce pattern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3977639"/>
            <a:ext cx="52120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84048" indent="-384048">
              <a:spcAft>
                <a:spcPts val="1200"/>
              </a:spcAft>
              <a:buClr>
                <a:srgbClr val="0E7C86"/>
              </a:buClr>
              <a:buFont typeface="Wingdings"/>
              <a:buChar char="§"/>
            </a:pPr>
            <a:r>
              <a:rPr sz="2200">
                <a:solidFill>
                  <a:srgbClr val="16202E"/>
                </a:solidFill>
                <a:latin typeface="Calibri"/>
              </a:rPr>
              <a:t>Native Java is 14% to 28% faster than Streaming</a:t>
            </a:r>
          </a:p>
          <a:p>
            <a:pPr marL="384048" indent="-384048">
              <a:spcAft>
                <a:spcPts val="1200"/>
              </a:spcAft>
              <a:buClr>
                <a:srgbClr val="0E7C86"/>
              </a:buClr>
              <a:buFont typeface="Wingdings"/>
              <a:buChar char="§"/>
            </a:pPr>
            <a:r>
              <a:rPr sz="2200">
                <a:solidFill>
                  <a:srgbClr val="16202E"/>
                </a:solidFill>
                <a:latin typeface="Calibri"/>
              </a:rPr>
              <a:t>Hadoop, MongoDB and pandas agree: 0 mismatches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" y="0"/>
            <a:ext cx="73152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E7C86"/>
                </a:solidFill>
                <a:latin typeface="Calibri"/>
              </a:rPr>
              <a:t>DASHBOARD ANALYSIS |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0B1F3A"/>
                </a:solidFill>
                <a:latin typeface="Calibri"/>
              </a:rPr>
              <a:t>54.8% late, flat for 3 years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640080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>
                <a:solidFill>
                  <a:srgbClr val="5B6677"/>
                </a:solidFill>
                <a:latin typeface="Calibri"/>
              </a:rPr>
              <a:t>DelayLens  |  6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8590C"/>
                </a:solidFill>
                <a:latin typeface="Calibri"/>
              </a:rPr>
              <a:t>WHAT IT SHOWS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448056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84048" indent="-384048">
              <a:spcAft>
                <a:spcPts val="1600"/>
              </a:spcAft>
              <a:buClr>
                <a:srgbClr val="0E7C86"/>
              </a:buClr>
              <a:buFont typeface="Wingdings"/>
              <a:buChar char="§"/>
            </a:pPr>
            <a:r>
              <a:rPr sz="2200">
                <a:solidFill>
                  <a:srgbClr val="16202E"/>
                </a:solidFill>
                <a:latin typeface="Calibri"/>
              </a:rPr>
              <a:t>36,048 of 65,752 orders late</a:t>
            </a:r>
          </a:p>
          <a:p>
            <a:pPr marL="384048" indent="-384048">
              <a:spcAft>
                <a:spcPts val="1600"/>
              </a:spcAft>
              <a:buClr>
                <a:srgbClr val="0E7C86"/>
              </a:buClr>
              <a:buFont typeface="Wingdings"/>
              <a:buChar char="§"/>
            </a:pPr>
            <a:r>
              <a:rPr sz="2200">
                <a:solidFill>
                  <a:srgbClr val="16202E"/>
                </a:solidFill>
                <a:latin typeface="Calibri"/>
              </a:rPr>
              <a:t>Late rate flat across 37 months</a:t>
            </a:r>
          </a:p>
          <a:p>
            <a:pPr marL="384048" indent="-384048">
              <a:spcAft>
                <a:spcPts val="1600"/>
              </a:spcAft>
              <a:buClr>
                <a:srgbClr val="0E7C86"/>
              </a:buClr>
              <a:buFont typeface="Wingdings"/>
              <a:buChar char="§"/>
            </a:pPr>
            <a:r>
              <a:rPr sz="2200">
                <a:solidFill>
                  <a:srgbClr val="16202E"/>
                </a:solidFill>
                <a:latin typeface="Calibri"/>
              </a:rPr>
              <a:t>Every market within 2 points of the average</a:t>
            </a:r>
          </a:p>
          <a:p>
            <a:pPr marL="384048" indent="-384048">
              <a:spcAft>
                <a:spcPts val="1600"/>
              </a:spcAft>
              <a:buClr>
                <a:srgbClr val="0E7C86"/>
              </a:buClr>
              <a:buFont typeface="Wingdings"/>
              <a:buChar char="§"/>
            </a:pPr>
            <a:r>
              <a:rPr sz="2200">
                <a:solidFill>
                  <a:srgbClr val="16202E"/>
                </a:solidFill>
                <a:latin typeface="Calibri"/>
              </a:rPr>
              <a:t>33,932 open orders, 18,561 expected late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58968" y="1755648"/>
            <a:ext cx="6364224" cy="4521890"/>
          </a:xfrm>
          <a:prstGeom prst="rect">
            <a:avLst/>
          </a:prstGeom>
          <a:solidFill>
            <a:srgbClr val="FFFFFF"/>
          </a:solidFill>
          <a:ln w="19050">
            <a:solidFill>
              <a:srgbClr val="D9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s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783080"/>
            <a:ext cx="6309360" cy="446702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" y="0"/>
            <a:ext cx="73152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E7C86"/>
                </a:solidFill>
                <a:latin typeface="Calibri"/>
              </a:rPr>
              <a:t>DASHBOARD ANALYSIS | SHIPPING MODES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0B1F3A"/>
                </a:solidFill>
                <a:latin typeface="Calibri"/>
              </a:rPr>
              <a:t>Shipping mode decides lateness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640080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>
                <a:solidFill>
                  <a:srgbClr val="5B6677"/>
                </a:solidFill>
                <a:latin typeface="Calibri"/>
              </a:rPr>
              <a:t>DelayLens  |  7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8590C"/>
                </a:solidFill>
                <a:latin typeface="Calibri"/>
              </a:rPr>
              <a:t>WHAT IT SHOWS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448056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84048" indent="-384048">
              <a:spcAft>
                <a:spcPts val="1600"/>
              </a:spcAft>
              <a:buClr>
                <a:srgbClr val="0E7C86"/>
              </a:buClr>
              <a:buFont typeface="Wingdings"/>
              <a:buChar char="§"/>
            </a:pPr>
            <a:r>
              <a:rPr sz="2200">
                <a:solidFill>
                  <a:srgbClr val="16202E"/>
                </a:solidFill>
                <a:latin typeface="Calibri"/>
              </a:rPr>
              <a:t>First Class: promised 1 day, takes 2, 95.3% late</a:t>
            </a:r>
          </a:p>
          <a:p>
            <a:pPr marL="384048" indent="-384048">
              <a:spcAft>
                <a:spcPts val="1600"/>
              </a:spcAft>
              <a:buClr>
                <a:srgbClr val="0E7C86"/>
              </a:buClr>
              <a:buFont typeface="Wingdings"/>
              <a:buChar char="§"/>
            </a:pPr>
            <a:r>
              <a:rPr sz="2200">
                <a:solidFill>
                  <a:srgbClr val="16202E"/>
                </a:solidFill>
                <a:latin typeface="Calibri"/>
              </a:rPr>
              <a:t>Same Day orders after 12:00 are always late</a:t>
            </a:r>
          </a:p>
          <a:p>
            <a:pPr marL="384048" indent="-384048">
              <a:spcAft>
                <a:spcPts val="1600"/>
              </a:spcAft>
              <a:buClr>
                <a:srgbClr val="0E7C86"/>
              </a:buClr>
              <a:buFont typeface="Wingdings"/>
              <a:buChar char="§"/>
            </a:pPr>
            <a:r>
              <a:rPr sz="2200">
                <a:solidFill>
                  <a:srgbClr val="16202E"/>
                </a:solidFill>
                <a:latin typeface="Calibri"/>
              </a:rPr>
              <a:t>Same pattern in every market</a:t>
            </a:r>
          </a:p>
          <a:p>
            <a:pPr marL="384048" indent="-384048">
              <a:spcAft>
                <a:spcPts val="1600"/>
              </a:spcAft>
              <a:buClr>
                <a:srgbClr val="0E7C86"/>
              </a:buClr>
              <a:buFont typeface="Wingdings"/>
              <a:buChar char="§"/>
            </a:pPr>
            <a:r>
              <a:rPr sz="2200">
                <a:solidFill>
                  <a:srgbClr val="16202E"/>
                </a:solidFill>
                <a:latin typeface="Calibri"/>
              </a:rPr>
              <a:t>Standard Class is the most reliable: 38.1%</a:t>
            </a:r>
          </a:p>
        </p:txBody>
      </p:sp>
      <p:sp>
        <p:nvSpPr>
          <p:cNvPr id="9" name="Rectangle 8"/>
          <p:cNvSpPr/>
          <p:nvPr/>
        </p:nvSpPr>
        <p:spPr>
          <a:xfrm>
            <a:off x="5458968" y="1755648"/>
            <a:ext cx="6364224" cy="4521890"/>
          </a:xfrm>
          <a:prstGeom prst="rect">
            <a:avLst/>
          </a:prstGeom>
          <a:solidFill>
            <a:srgbClr val="FFFFFF"/>
          </a:solidFill>
          <a:ln w="19050">
            <a:solidFill>
              <a:srgbClr val="D9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s_shipp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783080"/>
            <a:ext cx="6309360" cy="446702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" y="0"/>
            <a:ext cx="73152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E7C86"/>
                </a:solidFill>
                <a:latin typeface="Calibri"/>
              </a:rPr>
              <a:t>DASHBOARD ANALYSIS | PROMISE WHAT-IF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0B1F3A"/>
                </a:solidFill>
                <a:latin typeface="Calibri"/>
              </a:rPr>
              <a:t>Better promises: 54.8% to 18.9%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640080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>
                <a:solidFill>
                  <a:srgbClr val="5B6677"/>
                </a:solidFill>
                <a:latin typeface="Calibri"/>
              </a:rPr>
              <a:t>DelayLens  |  8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8590C"/>
                </a:solidFill>
                <a:latin typeface="Calibri"/>
              </a:rPr>
              <a:t>WHAT IT SHOWS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448056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84048" indent="-384048">
              <a:spcAft>
                <a:spcPts val="1600"/>
              </a:spcAft>
              <a:buClr>
                <a:srgbClr val="0E7C86"/>
              </a:buClr>
              <a:buFont typeface="Wingdings"/>
              <a:buChar char="§"/>
            </a:pPr>
            <a:r>
              <a:rPr sz="2200">
                <a:solidFill>
                  <a:srgbClr val="16202E"/>
                </a:solidFill>
                <a:latin typeface="Calibri"/>
              </a:rPr>
              <a:t>23,603 fewer late orders, no faster shipping</a:t>
            </a:r>
          </a:p>
          <a:p>
            <a:pPr marL="384048" indent="-384048">
              <a:spcAft>
                <a:spcPts val="1600"/>
              </a:spcAft>
              <a:buClr>
                <a:srgbClr val="0E7C86"/>
              </a:buClr>
              <a:buFont typeface="Wingdings"/>
              <a:buChar char="§"/>
            </a:pPr>
            <a:r>
              <a:rPr sz="2200">
                <a:solidFill>
                  <a:srgbClr val="16202E"/>
                </a:solidFill>
                <a:latin typeface="Calibri"/>
              </a:rPr>
              <a:t>Live simulator: 30.3% in 293 ms</a:t>
            </a:r>
          </a:p>
          <a:p>
            <a:pPr marL="384048" indent="-384048">
              <a:spcAft>
                <a:spcPts val="1600"/>
              </a:spcAft>
              <a:buClr>
                <a:srgbClr val="0E7C86"/>
              </a:buClr>
              <a:buFont typeface="Wingdings"/>
              <a:buChar char="§"/>
            </a:pPr>
            <a:r>
              <a:rPr sz="2200">
                <a:solidFill>
                  <a:srgbClr val="16202E"/>
                </a:solidFill>
                <a:latin typeface="Calibri"/>
              </a:rPr>
              <a:t>First Class 2 days, Second Class 4 days, Same Day cut-off 12:00</a:t>
            </a:r>
          </a:p>
          <a:p>
            <a:pPr marL="384048" indent="-384048">
              <a:spcAft>
                <a:spcPts val="1600"/>
              </a:spcAft>
              <a:buClr>
                <a:srgbClr val="0E7C86"/>
              </a:buClr>
              <a:buFont typeface="Wingdings"/>
              <a:buChar char="§"/>
            </a:pPr>
            <a:r>
              <a:rPr sz="2200">
                <a:solidFill>
                  <a:srgbClr val="16202E"/>
                </a:solidFill>
                <a:latin typeface="Calibri"/>
              </a:rPr>
              <a:t>11,674 open orders ($6.58M) at risk</a:t>
            </a:r>
          </a:p>
        </p:txBody>
      </p:sp>
      <p:sp>
        <p:nvSpPr>
          <p:cNvPr id="9" name="Rectangle 8"/>
          <p:cNvSpPr/>
          <p:nvPr/>
        </p:nvSpPr>
        <p:spPr>
          <a:xfrm>
            <a:off x="5458968" y="1755648"/>
            <a:ext cx="6364224" cy="4521890"/>
          </a:xfrm>
          <a:prstGeom prst="rect">
            <a:avLst/>
          </a:prstGeom>
          <a:solidFill>
            <a:srgbClr val="FFFFFF"/>
          </a:solidFill>
          <a:ln w="19050">
            <a:solidFill>
              <a:srgbClr val="D9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s_scenar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783080"/>
            <a:ext cx="6309360" cy="446702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" y="0"/>
            <a:ext cx="73152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E7C86"/>
                </a:solidFill>
                <a:latin typeface="Calibri"/>
              </a:rPr>
              <a:t>DASHBOARD ANALYSIS | COPILOT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0B1F3A"/>
                </a:solidFill>
                <a:latin typeface="Calibri"/>
              </a:rPr>
              <a:t>The copilot explains the cause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640080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>
                <a:solidFill>
                  <a:srgbClr val="5B6677"/>
                </a:solidFill>
                <a:latin typeface="Calibri"/>
              </a:rPr>
              <a:t>DelayLens  |  9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8590C"/>
                </a:solidFill>
                <a:latin typeface="Calibri"/>
              </a:rPr>
              <a:t>WHAT IT SHOWS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448056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84048" indent="-384048">
              <a:spcAft>
                <a:spcPts val="1600"/>
              </a:spcAft>
              <a:buClr>
                <a:srgbClr val="0E7C86"/>
              </a:buClr>
              <a:buFont typeface="Wingdings"/>
              <a:buChar char="§"/>
            </a:pPr>
            <a:r>
              <a:rPr sz="2200">
                <a:solidFill>
                  <a:srgbClr val="16202E"/>
                </a:solidFill>
                <a:latin typeface="Calibri"/>
              </a:rPr>
              <a:t>Asked: is geography the cause?</a:t>
            </a:r>
          </a:p>
          <a:p>
            <a:pPr marL="384048" indent="-384048">
              <a:spcAft>
                <a:spcPts val="1600"/>
              </a:spcAft>
              <a:buClr>
                <a:srgbClr val="0E7C86"/>
              </a:buClr>
              <a:buFont typeface="Wingdings"/>
              <a:buChar char="§"/>
            </a:pPr>
            <a:r>
              <a:rPr sz="2200">
                <a:solidFill>
                  <a:srgbClr val="16202E"/>
                </a:solidFill>
                <a:latin typeface="Calibri"/>
              </a:rPr>
              <a:t>Agent used 6 tools and drew a chart</a:t>
            </a:r>
          </a:p>
          <a:p>
            <a:pPr marL="384048" indent="-384048">
              <a:spcAft>
                <a:spcPts val="1600"/>
              </a:spcAft>
              <a:buClr>
                <a:srgbClr val="0E7C86"/>
              </a:buClr>
              <a:buFont typeface="Wingdings"/>
              <a:buChar char="§"/>
            </a:pPr>
            <a:r>
              <a:rPr sz="2200">
                <a:solidFill>
                  <a:srgbClr val="16202E"/>
                </a:solidFill>
                <a:latin typeface="Calibri"/>
              </a:rPr>
              <a:t>Answer: shipping mode, not region</a:t>
            </a:r>
          </a:p>
          <a:p>
            <a:pPr marL="384048" indent="-384048">
              <a:spcAft>
                <a:spcPts val="1600"/>
              </a:spcAft>
              <a:buClr>
                <a:srgbClr val="0E7C86"/>
              </a:buClr>
              <a:buFont typeface="Wingdings"/>
              <a:buChar char="§"/>
            </a:pPr>
            <a:r>
              <a:rPr sz="2200">
                <a:solidFill>
                  <a:srgbClr val="16202E"/>
                </a:solidFill>
                <a:latin typeface="Calibri"/>
              </a:rPr>
              <a:t>8 of 8 test questions correct, 4 to 7 s each</a:t>
            </a:r>
          </a:p>
        </p:txBody>
      </p:sp>
      <p:sp>
        <p:nvSpPr>
          <p:cNvPr id="9" name="Rectangle 8"/>
          <p:cNvSpPr/>
          <p:nvPr/>
        </p:nvSpPr>
        <p:spPr>
          <a:xfrm>
            <a:off x="5458968" y="1755648"/>
            <a:ext cx="6364224" cy="4521890"/>
          </a:xfrm>
          <a:prstGeom prst="rect">
            <a:avLst/>
          </a:prstGeom>
          <a:solidFill>
            <a:srgbClr val="FFFFFF"/>
          </a:solidFill>
          <a:ln w="19050">
            <a:solidFill>
              <a:srgbClr val="D9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s_copi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783080"/>
            <a:ext cx="6309360" cy="446702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" y="0"/>
            <a:ext cx="73152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E7C86"/>
                </a:solidFill>
                <a:latin typeface="Calibr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0B1F3A"/>
                </a:solidFill>
                <a:latin typeface="Calibri"/>
              </a:rPr>
              <a:t>Fix the promise, not the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640080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>
                <a:solidFill>
                  <a:srgbClr val="5B6677"/>
                </a:solidFill>
                <a:latin typeface="Calibri"/>
              </a:rPr>
              <a:t>DelayLens  |  10 /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3291840"/>
          </a:xfrm>
          <a:prstGeom prst="rect">
            <a:avLst/>
          </a:prstGeom>
          <a:solidFill>
            <a:srgbClr val="FFFFFF"/>
          </a:solidFill>
          <a:ln w="19050">
            <a:solidFill>
              <a:srgbClr val="D9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212080" cy="82296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965960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Calibri"/>
              </a:rPr>
              <a:t>Findings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697480"/>
            <a:ext cx="475488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84048" indent="-384048">
              <a:spcAft>
                <a:spcPts val="1400"/>
              </a:spcAft>
              <a:buClr>
                <a:srgbClr val="0E7C86"/>
              </a:buClr>
              <a:buFont typeface="Wingdings"/>
              <a:buChar char="§"/>
            </a:pPr>
            <a:r>
              <a:rPr sz="2200">
                <a:solidFill>
                  <a:srgbClr val="16202E"/>
                </a:solidFill>
                <a:latin typeface="Calibri"/>
              </a:rPr>
              <a:t>Delays follow shipping-mode promises</a:t>
            </a:r>
          </a:p>
          <a:p>
            <a:pPr marL="384048" indent="-384048">
              <a:spcAft>
                <a:spcPts val="1400"/>
              </a:spcAft>
              <a:buClr>
                <a:srgbClr val="0E7C86"/>
              </a:buClr>
              <a:buFont typeface="Wingdings"/>
              <a:buChar char="§"/>
            </a:pPr>
            <a:r>
              <a:rPr sz="2200">
                <a:solidFill>
                  <a:srgbClr val="16202E"/>
                </a:solidFill>
                <a:latin typeface="Calibri"/>
              </a:rPr>
              <a:t>Hadoop + MongoDB + copilot work end to end</a:t>
            </a:r>
          </a:p>
          <a:p>
            <a:pPr marL="384048" indent="-384048">
              <a:spcAft>
                <a:spcPts val="1400"/>
              </a:spcAft>
              <a:buClr>
                <a:srgbClr val="0E7C86"/>
              </a:buClr>
              <a:buFont typeface="Wingdings"/>
              <a:buChar char="§"/>
            </a:pPr>
            <a:r>
              <a:rPr sz="2200">
                <a:solidFill>
                  <a:srgbClr val="16202E"/>
                </a:solidFill>
                <a:latin typeface="Calibri"/>
              </a:rPr>
              <a:t>Copilot: 8 of 8 answers correct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783080"/>
            <a:ext cx="5212080" cy="3291840"/>
          </a:xfrm>
          <a:prstGeom prst="rect">
            <a:avLst/>
          </a:prstGeom>
          <a:solidFill>
            <a:srgbClr val="FFFFFF"/>
          </a:solidFill>
          <a:ln w="19050">
            <a:solidFill>
              <a:srgbClr val="D9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783080"/>
            <a:ext cx="5212080" cy="82296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59" y="1965960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Calibri"/>
              </a:rPr>
              <a:t>Recommendations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59" y="2697480"/>
            <a:ext cx="475488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84048" indent="-384048">
              <a:spcAft>
                <a:spcPts val="1400"/>
              </a:spcAft>
              <a:buClr>
                <a:srgbClr val="0E7C86"/>
              </a:buClr>
              <a:buFont typeface="Wingdings"/>
              <a:buChar char="§"/>
            </a:pPr>
            <a:r>
              <a:rPr sz="2200">
                <a:solidFill>
                  <a:srgbClr val="16202E"/>
                </a:solidFill>
                <a:latin typeface="Calibri"/>
              </a:rPr>
              <a:t>Promise First Class in 2 days</a:t>
            </a:r>
          </a:p>
          <a:p>
            <a:pPr marL="384048" indent="-384048">
              <a:spcAft>
                <a:spcPts val="1400"/>
              </a:spcAft>
              <a:buClr>
                <a:srgbClr val="0E7C86"/>
              </a:buClr>
              <a:buFont typeface="Wingdings"/>
              <a:buChar char="§"/>
            </a:pPr>
            <a:r>
              <a:rPr sz="2200">
                <a:solidFill>
                  <a:srgbClr val="16202E"/>
                </a:solidFill>
                <a:latin typeface="Calibri"/>
              </a:rPr>
              <a:t>Promise Second Class in 4 days</a:t>
            </a:r>
          </a:p>
          <a:p>
            <a:pPr marL="384048" indent="-384048">
              <a:spcAft>
                <a:spcPts val="1400"/>
              </a:spcAft>
              <a:buClr>
                <a:srgbClr val="0E7C86"/>
              </a:buClr>
              <a:buFont typeface="Wingdings"/>
              <a:buChar char="§"/>
            </a:pPr>
            <a:r>
              <a:rPr sz="2200">
                <a:solidFill>
                  <a:srgbClr val="16202E"/>
                </a:solidFill>
                <a:latin typeface="Calibri"/>
              </a:rPr>
              <a:t>Contact the 11,674 at-risk open orders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5440680"/>
            <a:ext cx="10698480" cy="868680"/>
          </a:xfrm>
          <a:prstGeom prst="rect">
            <a:avLst/>
          </a:prstGeom>
          <a:solidFill>
            <a:srgbClr val="E8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5440680"/>
            <a:ext cx="109728" cy="86868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5440680"/>
            <a:ext cx="102412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Calibri"/>
              </a:rPr>
              <a:t>Future work: multi-node cluster and live data feeds   ·   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